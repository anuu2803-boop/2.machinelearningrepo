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ini Brindha" userId="33166f5be1543c24" providerId="LiveId" clId="{D5AA3864-D2C4-4294-B70D-6FF3123393F4}"/>
    <pc:docChg chg="undo custSel addSld delSld modSld">
      <pc:chgData name="Aswini Brindha" userId="33166f5be1543c24" providerId="LiveId" clId="{D5AA3864-D2C4-4294-B70D-6FF3123393F4}" dt="2026-03-24T06:18:13.825" v="143" actId="1076"/>
      <pc:docMkLst>
        <pc:docMk/>
      </pc:docMkLst>
      <pc:sldChg chg="delSp modSp mod">
        <pc:chgData name="Aswini Brindha" userId="33166f5be1543c24" providerId="LiveId" clId="{D5AA3864-D2C4-4294-B70D-6FF3123393F4}" dt="2026-03-24T06:17:19.123" v="139" actId="255"/>
        <pc:sldMkLst>
          <pc:docMk/>
          <pc:sldMk cId="191714609" sldId="258"/>
        </pc:sldMkLst>
        <pc:spChg chg="mod">
          <ac:chgData name="Aswini Brindha" userId="33166f5be1543c24" providerId="LiveId" clId="{D5AA3864-D2C4-4294-B70D-6FF3123393F4}" dt="2026-03-24T06:17:19.123" v="139" actId="255"/>
          <ac:spMkLst>
            <pc:docMk/>
            <pc:sldMk cId="191714609" sldId="258"/>
            <ac:spMk id="2" creationId="{9AB2EA78-AEB3-469B-9025-3B17201A457B}"/>
          </ac:spMkLst>
        </pc:spChg>
        <pc:spChg chg="del mod">
          <ac:chgData name="Aswini Brindha" userId="33166f5be1543c24" providerId="LiveId" clId="{D5AA3864-D2C4-4294-B70D-6FF3123393F4}" dt="2026-03-24T06:05:31.012" v="42" actId="478"/>
          <ac:spMkLst>
            <pc:docMk/>
            <pc:sldMk cId="191714609" sldId="258"/>
            <ac:spMk id="3" creationId="{255E1F2F-E259-4EA8-9FFD-3A10AF541859}"/>
          </ac:spMkLst>
        </pc:spChg>
      </pc:sldChg>
      <pc:sldChg chg="new del">
        <pc:chgData name="Aswini Brindha" userId="33166f5be1543c24" providerId="LiveId" clId="{D5AA3864-D2C4-4294-B70D-6FF3123393F4}" dt="2026-03-24T06:06:05.975" v="48" actId="47"/>
        <pc:sldMkLst>
          <pc:docMk/>
          <pc:sldMk cId="2515322505" sldId="259"/>
        </pc:sldMkLst>
      </pc:sldChg>
      <pc:sldChg chg="delSp add del setBg delDesignElem">
        <pc:chgData name="Aswini Brindha" userId="33166f5be1543c24" providerId="LiveId" clId="{D5AA3864-D2C4-4294-B70D-6FF3123393F4}" dt="2026-03-24T06:06:04.347" v="47" actId="47"/>
        <pc:sldMkLst>
          <pc:docMk/>
          <pc:sldMk cId="1131112370" sldId="260"/>
        </pc:sldMkLst>
        <pc:spChg chg="del">
          <ac:chgData name="Aswini Brindha" userId="33166f5be1543c24" providerId="LiveId" clId="{D5AA3864-D2C4-4294-B70D-6FF3123393F4}" dt="2026-03-24T06:05:54.578" v="45"/>
          <ac:spMkLst>
            <pc:docMk/>
            <pc:sldMk cId="1131112370" sldId="260"/>
            <ac:spMk id="47" creationId="{A22D34EC-B138-566B-37B0-F133A9F6A939}"/>
          </ac:spMkLst>
        </pc:spChg>
        <pc:spChg chg="del">
          <ac:chgData name="Aswini Brindha" userId="33166f5be1543c24" providerId="LiveId" clId="{D5AA3864-D2C4-4294-B70D-6FF3123393F4}" dt="2026-03-24T06:05:54.578" v="45"/>
          <ac:spMkLst>
            <pc:docMk/>
            <pc:sldMk cId="1131112370" sldId="260"/>
            <ac:spMk id="49" creationId="{948ABD60-671B-5844-CD1B-73D329B4071E}"/>
          </ac:spMkLst>
        </pc:spChg>
      </pc:sldChg>
      <pc:sldChg chg="modSp add mod">
        <pc:chgData name="Aswini Brindha" userId="33166f5be1543c24" providerId="LiveId" clId="{D5AA3864-D2C4-4294-B70D-6FF3123393F4}" dt="2026-03-24T06:17:32.926" v="140" actId="255"/>
        <pc:sldMkLst>
          <pc:docMk/>
          <pc:sldMk cId="511204042" sldId="261"/>
        </pc:sldMkLst>
        <pc:spChg chg="mod">
          <ac:chgData name="Aswini Brindha" userId="33166f5be1543c24" providerId="LiveId" clId="{D5AA3864-D2C4-4294-B70D-6FF3123393F4}" dt="2026-03-24T06:17:32.926" v="140" actId="255"/>
          <ac:spMkLst>
            <pc:docMk/>
            <pc:sldMk cId="511204042" sldId="261"/>
            <ac:spMk id="2" creationId="{1EFB3B2F-DC7A-7135-EF3E-609E9F8FCD2E}"/>
          </ac:spMkLst>
        </pc:spChg>
      </pc:sldChg>
      <pc:sldChg chg="modSp add mod">
        <pc:chgData name="Aswini Brindha" userId="33166f5be1543c24" providerId="LiveId" clId="{D5AA3864-D2C4-4294-B70D-6FF3123393F4}" dt="2026-03-24T06:17:54.869" v="141" actId="255"/>
        <pc:sldMkLst>
          <pc:docMk/>
          <pc:sldMk cId="751662639" sldId="262"/>
        </pc:sldMkLst>
        <pc:spChg chg="mod">
          <ac:chgData name="Aswini Brindha" userId="33166f5be1543c24" providerId="LiveId" clId="{D5AA3864-D2C4-4294-B70D-6FF3123393F4}" dt="2026-03-24T06:17:54.869" v="141" actId="255"/>
          <ac:spMkLst>
            <pc:docMk/>
            <pc:sldMk cId="751662639" sldId="262"/>
            <ac:spMk id="2" creationId="{364408C4-4988-557F-2D33-AA8A1646AB15}"/>
          </ac:spMkLst>
        </pc:spChg>
      </pc:sldChg>
      <pc:sldChg chg="modSp add mod">
        <pc:chgData name="Aswini Brindha" userId="33166f5be1543c24" providerId="LiveId" clId="{D5AA3864-D2C4-4294-B70D-6FF3123393F4}" dt="2026-03-24T06:18:05.593" v="142" actId="255"/>
        <pc:sldMkLst>
          <pc:docMk/>
          <pc:sldMk cId="173778843" sldId="263"/>
        </pc:sldMkLst>
        <pc:spChg chg="mod">
          <ac:chgData name="Aswini Brindha" userId="33166f5be1543c24" providerId="LiveId" clId="{D5AA3864-D2C4-4294-B70D-6FF3123393F4}" dt="2026-03-24T06:18:05.593" v="142" actId="255"/>
          <ac:spMkLst>
            <pc:docMk/>
            <pc:sldMk cId="173778843" sldId="263"/>
            <ac:spMk id="2" creationId="{12A23FBE-9F55-C9EA-3FD5-C6FAC909F2A7}"/>
          </ac:spMkLst>
        </pc:spChg>
      </pc:sldChg>
      <pc:sldChg chg="modSp add mod">
        <pc:chgData name="Aswini Brindha" userId="33166f5be1543c24" providerId="LiveId" clId="{D5AA3864-D2C4-4294-B70D-6FF3123393F4}" dt="2026-03-24T06:18:13.825" v="143" actId="1076"/>
        <pc:sldMkLst>
          <pc:docMk/>
          <pc:sldMk cId="708524364" sldId="264"/>
        </pc:sldMkLst>
        <pc:spChg chg="mod">
          <ac:chgData name="Aswini Brindha" userId="33166f5be1543c24" providerId="LiveId" clId="{D5AA3864-D2C4-4294-B70D-6FF3123393F4}" dt="2026-03-24T06:18:13.825" v="143" actId="1076"/>
          <ac:spMkLst>
            <pc:docMk/>
            <pc:sldMk cId="708524364" sldId="264"/>
            <ac:spMk id="2" creationId="{300448DE-EC62-FBE9-C594-87B32A3200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dirty="0"/>
              <a:t>Boosting Algorithm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Anushobanaa.K.B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559293"/>
            <a:ext cx="10058400" cy="4393707"/>
          </a:xfrm>
        </p:spPr>
        <p:txBody>
          <a:bodyPr anchor="ctr">
            <a:noAutofit/>
          </a:bodyPr>
          <a:lstStyle/>
          <a:p>
            <a:r>
              <a:rPr lang="en-US" sz="2800" b="1" i="1" dirty="0"/>
              <a:t>Introduction to Boosting</a:t>
            </a:r>
            <a:br>
              <a:rPr lang="en-US" sz="2800" b="1" i="1" dirty="0"/>
            </a:br>
            <a:br>
              <a:rPr lang="en-US" sz="2800" dirty="0"/>
            </a:br>
            <a:r>
              <a:rPr lang="en-US" sz="2000" b="1" dirty="0"/>
              <a:t>Definition</a:t>
            </a:r>
            <a:r>
              <a:rPr lang="en-US" sz="2000" dirty="0"/>
              <a:t>: Boosting is an ensemble technique that combines multiple weak learners to form a strong predictive model.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Key Idea</a:t>
            </a:r>
            <a:r>
              <a:rPr lang="en-US" sz="2000" dirty="0"/>
              <a:t>: Sequentially train models, each correcting the errors of the previous one.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Applications</a:t>
            </a:r>
            <a:r>
              <a:rPr lang="en-US" sz="2000" dirty="0"/>
              <a:t>: Regression, classification, ranking problems.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Advantages</a:t>
            </a:r>
            <a:r>
              <a:rPr lang="en-US" sz="2000" dirty="0"/>
              <a:t>: High accuracy, handles bias and variance effectively.</a:t>
            </a:r>
            <a:br>
              <a:rPr lang="en-US" sz="2000" dirty="0"/>
            </a:br>
            <a:endParaRPr lang="en-US" sz="20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C3AFF-9480-772C-13DA-FE392995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95BB252-7B76-236C-F654-E1CBBE31F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FB3B2F-DC7A-7135-EF3E-609E9F8FC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559293"/>
            <a:ext cx="10058400" cy="4393707"/>
          </a:xfrm>
        </p:spPr>
        <p:txBody>
          <a:bodyPr anchor="ctr">
            <a:noAutofit/>
          </a:bodyPr>
          <a:lstStyle/>
          <a:p>
            <a:r>
              <a:rPr lang="en-US" sz="2800" b="1" i="1" dirty="0"/>
              <a:t>Boosting for Regression</a:t>
            </a:r>
            <a:br>
              <a:rPr lang="en-US" sz="2800" b="1" i="1" dirty="0"/>
            </a:br>
            <a:br>
              <a:rPr lang="en-US" sz="2000" dirty="0"/>
            </a:br>
            <a:r>
              <a:rPr lang="en-US" sz="2000" b="1" dirty="0"/>
              <a:t>Concept</a:t>
            </a:r>
            <a:r>
              <a:rPr lang="en-US" sz="2000" dirty="0"/>
              <a:t>: Uses weak regression models (like decision stumps) iteratively.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Process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Train a weak learner.</a:t>
            </a:r>
            <a:br>
              <a:rPr lang="en-US" sz="2000" dirty="0"/>
            </a:br>
            <a:r>
              <a:rPr lang="en-US" sz="2000" dirty="0"/>
              <a:t>Calculate residuals (errors).</a:t>
            </a:r>
            <a:br>
              <a:rPr lang="en-US" sz="2000" dirty="0"/>
            </a:br>
            <a:r>
              <a:rPr lang="en-US" sz="2000" dirty="0"/>
              <a:t>Fit next learner on residuals.</a:t>
            </a:r>
            <a:br>
              <a:rPr lang="en-US" sz="2000" dirty="0"/>
            </a:br>
            <a:r>
              <a:rPr lang="en-US" sz="2000" dirty="0"/>
              <a:t>Combine results for final prediction.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Benefit</a:t>
            </a:r>
            <a:r>
              <a:rPr lang="en-US" sz="2000" dirty="0"/>
              <a:t>: Improves prediction accuracy by reducing error step by step</a:t>
            </a:r>
            <a:br>
              <a:rPr lang="en-US" sz="2800" dirty="0"/>
            </a:br>
            <a:br>
              <a:rPr lang="en-US" sz="2400" dirty="0"/>
            </a:br>
            <a:endParaRPr lang="en-US" sz="24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596B5A2-9AA2-31DC-A4C1-334231389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120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7C097-5F3E-25AC-04F4-DE65EDB09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2889AD9-3F32-817B-1609-CAF397175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408C4-4988-557F-2D33-AA8A1646A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9424" y="497149"/>
            <a:ext cx="10058400" cy="4393707"/>
          </a:xfrm>
        </p:spPr>
        <p:txBody>
          <a:bodyPr anchor="ctr">
            <a:noAutofit/>
          </a:bodyPr>
          <a:lstStyle/>
          <a:p>
            <a:r>
              <a:rPr lang="en-US" sz="2800" b="1" i="1" dirty="0"/>
              <a:t>AdaBoost (Adaptive Boosting)</a:t>
            </a:r>
            <a:br>
              <a:rPr lang="en-US" sz="2800" b="1" i="1" dirty="0"/>
            </a:br>
            <a:br>
              <a:rPr lang="en-US" sz="2800" dirty="0"/>
            </a:br>
            <a:r>
              <a:rPr lang="en-US" sz="2000" b="1" dirty="0"/>
              <a:t>Mechanism</a:t>
            </a:r>
            <a:r>
              <a:rPr lang="en-US" sz="2000" dirty="0"/>
              <a:t>: Assigns weights to data points, misclassified points get higher weights in the next round.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Base Learner</a:t>
            </a:r>
            <a:r>
              <a:rPr lang="en-US" sz="2000" dirty="0"/>
              <a:t>: Often decision trees (stumps).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Strengths</a:t>
            </a:r>
            <a:r>
              <a:rPr lang="en-US" sz="2000" dirty="0"/>
              <a:t>: Simple, effective for small datasets.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Limitations</a:t>
            </a:r>
            <a:r>
              <a:rPr lang="en-US" sz="2000" dirty="0"/>
              <a:t>: Sensitive to noisy data and outliers.</a:t>
            </a:r>
            <a:br>
              <a:rPr lang="en-US" sz="2800" dirty="0"/>
            </a:br>
            <a:br>
              <a:rPr lang="en-US" sz="2800" dirty="0"/>
            </a:br>
            <a:br>
              <a:rPr lang="en-US" sz="2400" dirty="0"/>
            </a:br>
            <a:endParaRPr lang="en-US" sz="24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17305A9-ABF3-02EF-CA8D-9DC6CB29C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5166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15355-2593-5CD2-C5CD-B21928ADC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7CB3BE2-8BC3-F584-64C9-D997688F8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23FBE-9F55-C9EA-3FD5-C6FAC909F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9424" y="497149"/>
            <a:ext cx="10058400" cy="4393707"/>
          </a:xfrm>
        </p:spPr>
        <p:txBody>
          <a:bodyPr anchor="ctr">
            <a:noAutofit/>
          </a:bodyPr>
          <a:lstStyle/>
          <a:p>
            <a:br>
              <a:rPr lang="en-US" sz="2800" b="1" i="1" dirty="0"/>
            </a:br>
            <a:br>
              <a:rPr lang="en-US" sz="2800" b="1" i="1" dirty="0"/>
            </a:br>
            <a:r>
              <a:rPr lang="en-US" sz="2800" b="1" i="1" dirty="0" err="1"/>
              <a:t>XGBoost</a:t>
            </a:r>
            <a:r>
              <a:rPr lang="en-US" sz="2800" b="1" i="1" dirty="0"/>
              <a:t> (Extreme Gradient Boosting)</a:t>
            </a:r>
            <a:br>
              <a:rPr lang="en-US" sz="2800" dirty="0"/>
            </a:br>
            <a:br>
              <a:rPr lang="en-US" sz="2800" dirty="0"/>
            </a:br>
            <a:r>
              <a:rPr lang="en-US" sz="2000" b="1" dirty="0"/>
              <a:t>Features</a:t>
            </a:r>
            <a:r>
              <a:rPr lang="en-US" sz="2000" dirty="0"/>
              <a:t>: Optimized implementation of gradient boosting.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Advantages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Regularization to prevent overfitting.</a:t>
            </a:r>
            <a:br>
              <a:rPr lang="en-US" sz="2000" dirty="0"/>
            </a:br>
            <a:r>
              <a:rPr lang="en-US" sz="2000" dirty="0"/>
              <a:t>Parallel processing for speed.</a:t>
            </a:r>
            <a:br>
              <a:rPr lang="en-US" sz="2000" dirty="0"/>
            </a:br>
            <a:r>
              <a:rPr lang="en-US" sz="2000" dirty="0"/>
              <a:t>Handles missing values.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Use Cases</a:t>
            </a:r>
            <a:r>
              <a:rPr lang="en-US" sz="2000" dirty="0"/>
              <a:t>: Widely used in Kaggle competitions, finance, healthcare, and recommendation systems.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400" dirty="0"/>
            </a:br>
            <a:endParaRPr lang="en-US" sz="24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B27555C-8EF6-E1CD-E9DE-DA8BEA2EE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377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8DD687-A0DD-AADC-4C3B-5DC06AE4F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25D3973-DBEA-10D0-7D9E-9B18A34C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0448DE-EC62-FBE9-C594-87B32A320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83" y="435005"/>
            <a:ext cx="10058400" cy="4393707"/>
          </a:xfrm>
        </p:spPr>
        <p:txBody>
          <a:bodyPr anchor="ctr">
            <a:noAutofit/>
          </a:bodyPr>
          <a:lstStyle/>
          <a:p>
            <a:br>
              <a:rPr lang="en-US" sz="2800" b="1" i="1" dirty="0"/>
            </a:br>
            <a:br>
              <a:rPr lang="en-US" sz="2800" b="1" i="1" dirty="0"/>
            </a:br>
            <a:br>
              <a:rPr lang="en-US" sz="2800" b="1" i="1" dirty="0"/>
            </a:br>
            <a:r>
              <a:rPr lang="en-US" sz="2800" b="1" i="1" dirty="0" err="1"/>
              <a:t>LightGBM</a:t>
            </a:r>
            <a:r>
              <a:rPr lang="en-US" sz="2800" b="1" i="1" dirty="0"/>
              <a:t> (Light Gradient Boosting Machine)</a:t>
            </a:r>
            <a:br>
              <a:rPr lang="en-US" sz="2800" b="1" i="1" dirty="0"/>
            </a:br>
            <a:br>
              <a:rPr lang="en-US" sz="2800" dirty="0"/>
            </a:br>
            <a:r>
              <a:rPr lang="en-US" sz="2000" b="1" dirty="0"/>
              <a:t>Design</a:t>
            </a:r>
            <a:r>
              <a:rPr lang="en-US" sz="2000" dirty="0"/>
              <a:t>: Developed by Microsoft, optimized for large datasets.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Key Techniques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Leaf-wise tree growth for better accuracy.</a:t>
            </a:r>
            <a:br>
              <a:rPr lang="en-US" sz="2000" dirty="0"/>
            </a:br>
            <a:r>
              <a:rPr lang="en-US" sz="2000" dirty="0"/>
              <a:t>Histogram-based algorithms for faster training.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Advantages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Efficient with memory and speed.</a:t>
            </a:r>
            <a:br>
              <a:rPr lang="en-US" sz="2000" dirty="0"/>
            </a:br>
            <a:r>
              <a:rPr lang="en-US" sz="2000" dirty="0"/>
              <a:t>Scales well with big data.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Applications</a:t>
            </a:r>
            <a:r>
              <a:rPr lang="en-US" sz="2000" dirty="0"/>
              <a:t>: Real-time prediction systems, large-scale machine learning tasks.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400" dirty="0"/>
            </a:br>
            <a:endParaRPr lang="en-US" sz="24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DB72194-F005-6156-73F4-D886F7A84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085243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{7A68529F-E280-4A99-B4EA-6C790E3C6D35}TFf0a5ceae-4542-492d-822e-d65a94fb0e1e3b562c5a_win32-009a0557e699</Template>
  <TotalTime>17</TotalTime>
  <Words>338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Bookman Old Style</vt:lpstr>
      <vt:lpstr>Calibri</vt:lpstr>
      <vt:lpstr>Franklin Gothic Book</vt:lpstr>
      <vt:lpstr>Custom</vt:lpstr>
      <vt:lpstr>Boosting Algorithm</vt:lpstr>
      <vt:lpstr>Introduction to Boosting  Definition: Boosting is an ensemble technique that combines multiple weak learners to form a strong predictive model.  Key Idea: Sequentially train models, each correcting the errors of the previous one.  Applications: Regression, classification, ranking problems.  Advantages: High accuracy, handles bias and variance effectively. </vt:lpstr>
      <vt:lpstr>Boosting for Regression  Concept: Uses weak regression models (like decision stumps) iteratively.  Process: Train a weak learner. Calculate residuals (errors). Fit next learner on residuals. Combine results for final prediction.  Benefit: Improves prediction accuracy by reducing error step by step  </vt:lpstr>
      <vt:lpstr>AdaBoost (Adaptive Boosting)  Mechanism: Assigns weights to data points, misclassified points get higher weights in the next round.  Base Learner: Often decision trees (stumps).  Strengths: Simple, effective for small datasets.  Limitations: Sensitive to noisy data and outliers.   </vt:lpstr>
      <vt:lpstr>  XGBoost (Extreme Gradient Boosting)  Features: Optimized implementation of gradient boosting.  Advantages: Regularization to prevent overfitting. Parallel processing for speed. Handles missing values.  Use Cases: Widely used in Kaggle competitions, finance, healthcare, and recommendation systems.    </vt:lpstr>
      <vt:lpstr>   LightGBM (Light Gradient Boosting Machine)  Design: Developed by Microsoft, optimized for large datasets.  Key Techniques: Leaf-wise tree growth for better accuracy. Histogram-based algorithms for faster training.  Advantages: Efficient with memory and speed. Scales well with big data.  Applications: Real-time prediction systems, large-scale machine learning tasks.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Aswini Brindha</dc:creator>
  <cp:lastModifiedBy>Aswini Brindha</cp:lastModifiedBy>
  <cp:revision>1</cp:revision>
  <dcterms:created xsi:type="dcterms:W3CDTF">2026-03-24T06:01:01Z</dcterms:created>
  <dcterms:modified xsi:type="dcterms:W3CDTF">2026-03-24T06:18:29Z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